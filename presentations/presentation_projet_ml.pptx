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80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2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25.png"/><Relationship Id="rId7" Type="http://schemas.openxmlformats.org/officeDocument/2006/relationships/image" Target="../media/image39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jpeg"/><Relationship Id="rId11" Type="http://schemas.openxmlformats.org/officeDocument/2006/relationships/image" Target="../media/image51.png"/><Relationship Id="rId5" Type="http://schemas.openxmlformats.org/officeDocument/2006/relationships/image" Target="../media/image36.png"/><Relationship Id="rId10" Type="http://schemas.openxmlformats.org/officeDocument/2006/relationships/image" Target="../media/image50.png"/><Relationship Id="rId4" Type="http://schemas.openxmlformats.org/officeDocument/2006/relationships/image" Target="../media/image46.pn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25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jpe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25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25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jpe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e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25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jpe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25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jpeg"/><Relationship Id="rId9" Type="http://schemas.openxmlformats.org/officeDocument/2006/relationships/image" Target="../media/image9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jpeg"/><Relationship Id="rId3" Type="http://schemas.openxmlformats.org/officeDocument/2006/relationships/image" Target="../media/image25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25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25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82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29207" y="-1429207"/>
            <a:ext cx="4781398" cy="4781398"/>
          </a:xfrm>
          <a:prstGeom prst="ellips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9695" y="2857500"/>
            <a:ext cx="7658100" cy="7658100"/>
          </a:xfrm>
          <a:prstGeom prst="ellipse">
            <a:avLst/>
          </a:prstGeom>
          <a:noFill/>
          <a:ln w="25400">
            <a:solidFill>
              <a:srgbClr val="27AE60">
                <a:alpha val="1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429207" y="6476695"/>
            <a:ext cx="2857500" cy="914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95" b="-195"/>
          <a:stretch/>
        </p:blipFill>
        <p:spPr>
          <a:xfrm>
            <a:off x="761695" y="1524305"/>
            <a:ext cx="75895" cy="24761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0" r="-10"/>
          <a:stretch/>
        </p:blipFill>
        <p:spPr>
          <a:xfrm>
            <a:off x="8096098" y="1333195"/>
            <a:ext cx="3238805" cy="30476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11" b="-11"/>
          <a:stretch/>
        </p:blipFill>
        <p:spPr>
          <a:xfrm>
            <a:off x="8096098" y="1333195"/>
            <a:ext cx="3238805" cy="47640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477402" y="2095805"/>
            <a:ext cx="428854" cy="1904695"/>
          </a:xfrm>
          <a:prstGeom prst="roundRect">
            <a:avLst>
              <a:gd name="adj" fmla="val 37906"/>
            </a:avLst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9144000" y="2095805"/>
            <a:ext cx="428854" cy="1904695"/>
          </a:xfrm>
          <a:prstGeom prst="roundRect">
            <a:avLst>
              <a:gd name="adj" fmla="val 37906"/>
            </a:avLst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9810598" y="2095805"/>
            <a:ext cx="428854" cy="1904695"/>
          </a:xfrm>
          <a:prstGeom prst="roundRect">
            <a:avLst>
              <a:gd name="adj" fmla="val 37906"/>
            </a:avLst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10477195" y="2095805"/>
            <a:ext cx="428854" cy="1904695"/>
          </a:xfrm>
          <a:prstGeom prst="roundRect">
            <a:avLst>
              <a:gd name="adj" fmla="val 37906"/>
            </a:avLst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19" r="-19"/>
          <a:stretch/>
        </p:blipFill>
        <p:spPr>
          <a:xfrm>
            <a:off x="761695" y="5524805"/>
            <a:ext cx="10610698" cy="76169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477402" y="2572207"/>
            <a:ext cx="428854" cy="1429207"/>
          </a:xfrm>
          <a:prstGeom prst="roundRect">
            <a:avLst>
              <a:gd name="adj" fmla="val 37906"/>
            </a:avLst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9144000" y="3047695"/>
            <a:ext cx="428854" cy="952805"/>
          </a:xfrm>
          <a:prstGeom prst="roundRect">
            <a:avLst>
              <a:gd name="adj" fmla="val 37906"/>
            </a:avLst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9810598" y="2286000"/>
            <a:ext cx="428854" cy="1714500"/>
          </a:xfrm>
          <a:prstGeom prst="roundRect">
            <a:avLst>
              <a:gd name="adj" fmla="val 37906"/>
            </a:avLst>
          </a:prstGeom>
          <a:solidFill>
            <a:srgbClr val="4AA3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0477195" y="3429000"/>
            <a:ext cx="428854" cy="571500"/>
          </a:xfrm>
          <a:prstGeom prst="roundRect">
            <a:avLst>
              <a:gd name="adj" fmla="val 37906"/>
            </a:avLst>
          </a:prstGeom>
          <a:solidFill>
            <a:srgbClr val="E74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1143000" y="1524305"/>
            <a:ext cx="6648602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Analyse Comportementale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Clientèle Retail 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3619195"/>
            <a:ext cx="71634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Prédiction du Churn — E-commerce de Cadeaux</a:t>
            </a:r>
            <a:endParaRPr lang="en-US" sz="24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87207" y="1530706"/>
            <a:ext cx="133502" cy="133502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67344" y="1530706"/>
            <a:ext cx="133502" cy="133502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48395" y="1530706"/>
            <a:ext cx="133502" cy="133502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>
            <a:alphaModFix amt="70000"/>
          </a:blip>
          <a:srcRect t="-842" b="-842"/>
          <a:stretch/>
        </p:blipFill>
        <p:spPr>
          <a:xfrm>
            <a:off x="10953598" y="1505102"/>
            <a:ext cx="190195" cy="171907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410005" y="5762549"/>
            <a:ext cx="27047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Myriam Ben Abdallah </a:t>
            </a:r>
            <a:endParaRPr lang="en-US" sz="15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rcRect l="-760" r="-760"/>
          <a:stretch/>
        </p:blipFill>
        <p:spPr>
          <a:xfrm>
            <a:off x="1143000" y="5790895"/>
            <a:ext cx="152705" cy="171907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4620463" y="5762549"/>
            <a:ext cx="3590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DC3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Encadrante : Fadoua Drira </a:t>
            </a:r>
            <a:endParaRPr lang="en-US" sz="15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/>
          <a:srcRect l="-1064" r="-1064"/>
          <a:stretch/>
        </p:blipFill>
        <p:spPr>
          <a:xfrm>
            <a:off x="4286707" y="5790895"/>
            <a:ext cx="219456" cy="171907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9959645" y="5762549"/>
            <a:ext cx="1139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2025–2026 </a:t>
            </a:r>
            <a:endParaRPr lang="en-US" sz="15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4"/>
          <a:srcRect l="-760" r="-760"/>
          <a:stretch/>
        </p:blipFill>
        <p:spPr>
          <a:xfrm>
            <a:off x="9692640" y="5790895"/>
            <a:ext cx="152705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1143000"/>
            <a:ext cx="12191695" cy="384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476402"/>
            <a:ext cx="3238805" cy="3238805"/>
          </a:xfrm>
          <a:prstGeom prst="ellipse">
            <a:avLst/>
          </a:prstGeom>
          <a:noFill/>
          <a:ln w="2540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1714500"/>
            <a:ext cx="5201107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1695" y="1714500"/>
            <a:ext cx="57607" cy="857707"/>
          </a:xfrm>
          <a:prstGeom prst="roundRect">
            <a:avLst>
              <a:gd name="adj" fmla="val 282188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86500" y="1714500"/>
            <a:ext cx="5201107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86500" y="1714500"/>
            <a:ext cx="57607" cy="857707"/>
          </a:xfrm>
          <a:prstGeom prst="roundRect">
            <a:avLst>
              <a:gd name="adj" fmla="val 282188"/>
            </a:avLst>
          </a:prstGeom>
          <a:solidFill>
            <a:srgbClr val="4AA3DF"/>
          </a:solidFill>
          <a:ln w="12700">
            <a:solidFill>
              <a:srgbClr val="4AA3D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1695" y="2762402"/>
            <a:ext cx="5201107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1695" y="2762402"/>
            <a:ext cx="57607" cy="857707"/>
          </a:xfrm>
          <a:prstGeom prst="roundRect">
            <a:avLst>
              <a:gd name="adj" fmla="val 282188"/>
            </a:avLst>
          </a:prstGeom>
          <a:solidFill>
            <a:srgbClr val="9B59B6"/>
          </a:solidFill>
          <a:ln w="12700">
            <a:solidFill>
              <a:srgbClr val="9B59B6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86500" y="2762402"/>
            <a:ext cx="5201107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86500" y="2762402"/>
            <a:ext cx="57607" cy="857707"/>
          </a:xfrm>
          <a:prstGeom prst="roundRect">
            <a:avLst>
              <a:gd name="adj" fmla="val 282188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1695" y="3810305"/>
            <a:ext cx="5201107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1695" y="3810305"/>
            <a:ext cx="57607" cy="857707"/>
          </a:xfrm>
          <a:prstGeom prst="roundRect">
            <a:avLst>
              <a:gd name="adj" fmla="val 282188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86500" y="3810305"/>
            <a:ext cx="5201107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86500" y="3810305"/>
            <a:ext cx="57607" cy="857707"/>
          </a:xfrm>
          <a:prstGeom prst="roundRect">
            <a:avLst>
              <a:gd name="adj" fmla="val 282188"/>
            </a:avLst>
          </a:prstGeom>
          <a:solidFill>
            <a:srgbClr val="1ABC9C"/>
          </a:solidFill>
          <a:ln w="12700">
            <a:solidFill>
              <a:srgbClr val="1ABC9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24098" y="4858207"/>
            <a:ext cx="5201107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24098" y="4858207"/>
            <a:ext cx="57607" cy="857707"/>
          </a:xfrm>
          <a:prstGeom prst="roundRect">
            <a:avLst>
              <a:gd name="adj" fmla="val 282188"/>
            </a:avLst>
          </a:prstGeom>
          <a:solidFill>
            <a:srgbClr val="F1C40F"/>
          </a:solidFill>
          <a:ln w="12700">
            <a:solidFill>
              <a:srgbClr val="F1C40F">
                <a:alpha val="0"/>
              </a:srgbClr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761695" y="6476695"/>
            <a:ext cx="10668305" cy="9144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394" b="-394"/>
          <a:stretch/>
        </p:blipFill>
        <p:spPr>
          <a:xfrm>
            <a:off x="0" y="1143000"/>
            <a:ext cx="4058107" cy="3840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52805" y="1952244"/>
            <a:ext cx="381305" cy="381305"/>
          </a:xfrm>
          <a:prstGeom prst="ellipse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76695" y="1952244"/>
            <a:ext cx="381305" cy="381305"/>
          </a:xfrm>
          <a:prstGeom prst="ellipse">
            <a:avLst/>
          </a:prstGeom>
          <a:solidFill>
            <a:srgbClr val="4AA3D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52805" y="3000146"/>
            <a:ext cx="381305" cy="381305"/>
          </a:xfrm>
          <a:prstGeom prst="ellipse">
            <a:avLst/>
          </a:prstGeom>
          <a:solidFill>
            <a:srgbClr val="9B59B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76695" y="3000146"/>
            <a:ext cx="381305" cy="381305"/>
          </a:xfrm>
          <a:prstGeom prst="ellipse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52805" y="4048049"/>
            <a:ext cx="381305" cy="381305"/>
          </a:xfrm>
          <a:prstGeom prst="ellipse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76695" y="4048049"/>
            <a:ext cx="381305" cy="381305"/>
          </a:xfrm>
          <a:prstGeom prst="ellipse">
            <a:avLst/>
          </a:prstGeom>
          <a:solidFill>
            <a:srgbClr val="1ABC9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715207" y="5095951"/>
            <a:ext cx="381305" cy="381305"/>
          </a:xfrm>
          <a:prstGeom prst="ellipse">
            <a:avLst/>
          </a:prstGeom>
          <a:solidFill>
            <a:srgbClr val="F1C40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0898" y="400507"/>
            <a:ext cx="342900" cy="3429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333195" y="333756"/>
            <a:ext cx="59061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Sommaire</a:t>
            </a:r>
            <a:endParaRPr lang="en-US" sz="3100" dirty="0"/>
          </a:p>
        </p:txBody>
      </p:sp>
      <p:sp>
        <p:nvSpPr>
          <p:cNvPr id="32" name="Text 26"/>
          <p:cNvSpPr txBox="1"/>
          <p:nvPr/>
        </p:nvSpPr>
        <p:spPr>
          <a:xfrm>
            <a:off x="1049731" y="2048256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43507" y="2048256"/>
            <a:ext cx="190195" cy="1901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904695" y="2000707"/>
            <a:ext cx="3924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Contexte &amp; Objectifs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6574536" y="2048256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A3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67398" y="2048256"/>
            <a:ext cx="190195" cy="19019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429500" y="2000707"/>
            <a:ext cx="3924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Exploration des données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1049731" y="3095244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59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1528877" y="3095244"/>
            <a:ext cx="219456" cy="19019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904695" y="3047695"/>
            <a:ext cx="3924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Préparation &amp; Nettoyage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6574536" y="3095244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5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43623" y="3095244"/>
            <a:ext cx="237744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429500" y="2952598"/>
            <a:ext cx="3924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Modélisation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7429500" y="3209544"/>
            <a:ext cx="3924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(4 modèles comparés)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1049731" y="4143146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5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518818" y="4143146"/>
            <a:ext cx="237744" cy="19019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904695" y="4000500"/>
            <a:ext cx="3924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 clientèle</a:t>
            </a:r>
            <a:endParaRPr lang="en-US" sz="1600" dirty="0"/>
          </a:p>
        </p:txBody>
      </p:sp>
      <p:sp>
        <p:nvSpPr>
          <p:cNvPr id="48" name="Text 37"/>
          <p:cNvSpPr txBox="1"/>
          <p:nvPr/>
        </p:nvSpPr>
        <p:spPr>
          <a:xfrm>
            <a:off x="1904695" y="4257446"/>
            <a:ext cx="3924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(ACP + K-means)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6574536" y="4143146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BC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5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043623" y="4143146"/>
            <a:ext cx="237744" cy="19019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429500" y="4000500"/>
            <a:ext cx="3924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52" name="Text 40"/>
          <p:cNvSpPr txBox="1"/>
          <p:nvPr/>
        </p:nvSpPr>
        <p:spPr>
          <a:xfrm>
            <a:off x="7429500" y="4257446"/>
            <a:ext cx="3924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(Flask + API REST)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3812134" y="5191049"/>
            <a:ext cx="19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500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4315054" y="5191049"/>
            <a:ext cx="171907" cy="1901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4667098" y="5143500"/>
            <a:ext cx="3924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 &amp; Recommandations</a:t>
            </a:r>
            <a:endParaRPr lang="en-US" sz="1600" dirty="0"/>
          </a:p>
        </p:txBody>
      </p:sp>
      <p:sp>
        <p:nvSpPr>
          <p:cNvPr id="56" name="Text 43"/>
          <p:cNvSpPr txBox="1"/>
          <p:nvPr/>
        </p:nvSpPr>
        <p:spPr>
          <a:xfrm>
            <a:off x="761695" y="6238951"/>
            <a:ext cx="2971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8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Vue d'ensemble du projet</a:t>
            </a:r>
            <a:endParaRPr lang="en-US" sz="1000" dirty="0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11259007" y="6310274"/>
            <a:ext cx="171907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4762195"/>
            <a:ext cx="3619195" cy="3619195"/>
          </a:xfrm>
          <a:prstGeom prst="ellipse">
            <a:avLst/>
          </a:prstGeom>
          <a:noFill/>
          <a:ln w="508000">
            <a:solidFill>
              <a:srgbClr val="27AE60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77195" y="-476402"/>
            <a:ext cx="2381098" cy="2381098"/>
          </a:xfrm>
          <a:prstGeom prst="ellipse">
            <a:avLst/>
          </a:prstGeom>
          <a:solidFill>
            <a:srgbClr val="4AA3D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476756"/>
            <a:ext cx="761695" cy="4754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2095805"/>
            <a:ext cx="3295498" cy="329549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8498" y="2095805"/>
            <a:ext cx="3295498" cy="329549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15300" y="2095805"/>
            <a:ext cx="3295498" cy="3295498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 t="-20" b="-20"/>
          <a:stretch/>
        </p:blipFill>
        <p:spPr>
          <a:xfrm>
            <a:off x="761695" y="5715000"/>
            <a:ext cx="10649102" cy="724205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1047902" y="2381098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67E2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4724705" y="2381098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27AE6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8401507" y="2381098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4AA3D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8401507" y="3571646"/>
            <a:ext cx="2723998" cy="418795"/>
          </a:xfrm>
          <a:prstGeom prst="roundRect">
            <a:avLst>
              <a:gd name="adj" fmla="val 59547"/>
            </a:avLst>
          </a:prstGeom>
          <a:solidFill>
            <a:srgbClr val="2C3E50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8401507" y="4086454"/>
            <a:ext cx="2723998" cy="418795"/>
          </a:xfrm>
          <a:prstGeom prst="roundRect">
            <a:avLst>
              <a:gd name="adj" fmla="val 59547"/>
            </a:avLst>
          </a:prstGeom>
          <a:solidFill>
            <a:srgbClr val="2C3E50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401507" y="4600346"/>
            <a:ext cx="2762402" cy="476402"/>
          </a:xfrm>
          <a:prstGeom prst="roundRect">
            <a:avLst>
              <a:gd name="adj" fmla="val 30710"/>
            </a:avLst>
          </a:prstGeom>
          <a:solidFill>
            <a:srgbClr val="E67E22">
              <a:alpha val="10000"/>
            </a:srgbClr>
          </a:solidFill>
          <a:ln/>
        </p:spPr>
      </p:sp>
      <p:sp>
        <p:nvSpPr>
          <p:cNvPr id="17" name="Shape 10"/>
          <p:cNvSpPr/>
          <p:nvPr/>
        </p:nvSpPr>
        <p:spPr>
          <a:xfrm>
            <a:off x="8401507" y="4600346"/>
            <a:ext cx="38405" cy="476402"/>
          </a:xfrm>
          <a:prstGeom prst="roundRect">
            <a:avLst>
              <a:gd name="adj" fmla="val 380950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761695" y="476402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Contexte &amp; Objectifs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761695"/>
            <a:ext cx="7810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Contexte &amp; Problématique</a:t>
            </a:r>
            <a:endParaRPr lang="en-US" sz="36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00607" y="2533802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47902" y="3095244"/>
            <a:ext cx="28337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Problème Métier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1047902" y="3571646"/>
            <a:ext cx="280080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Taux de départ des clients </a:t>
            </a:r>
            <a:r>
              <a:rPr lang="en-US" sz="1300" b="1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(churn)</a:t>
            </a:r>
            <a:r>
              <a:rPr lang="en-US" sz="13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trop élevé, ce qui impacte négativement la rétention et pénalise fortement le chiffre d'affaires du e-commerce. </a:t>
            </a:r>
            <a:endParaRPr lang="en-US" sz="13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76495" y="2533802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724705" y="3095244"/>
            <a:ext cx="28337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Objectifs</a:t>
            </a:r>
            <a:endParaRPr lang="en-US" sz="18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4724705" y="3648456"/>
            <a:ext cx="133502" cy="15270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009998" y="3619195"/>
            <a:ext cx="25146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Personnaliser les stratégies marketing</a:t>
            </a:r>
            <a:endParaRPr lang="en-US" sz="12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4724705" y="4172407"/>
            <a:ext cx="133502" cy="152705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009998" y="4143146"/>
            <a:ext cx="2536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Réduire le taux de churn</a:t>
            </a:r>
            <a:endParaRPr lang="en-US" sz="12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4724705" y="4600346"/>
            <a:ext cx="133502" cy="15270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5009998" y="4572000"/>
            <a:ext cx="25146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Optimiser le chiffre d'affaires global</a:t>
            </a:r>
            <a:endParaRPr lang="en-US" sz="12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8567928" y="2533802"/>
            <a:ext cx="200254" cy="2286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401507" y="3095244"/>
            <a:ext cx="28337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Actuel</a:t>
            </a:r>
            <a:endParaRPr lang="en-US" sz="1800" dirty="0"/>
          </a:p>
        </p:txBody>
      </p:sp>
      <p:sp>
        <p:nvSpPr>
          <p:cNvPr id="33" name="Text 20"/>
          <p:cNvSpPr txBox="1"/>
          <p:nvPr/>
        </p:nvSpPr>
        <p:spPr>
          <a:xfrm>
            <a:off x="8515807" y="3666744"/>
            <a:ext cx="25959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Volume</a:t>
            </a:r>
            <a:r>
              <a:rPr lang="en-US" sz="1200" b="1" dirty="0">
                <a:solidFill>
                  <a:srgbClr val="4AA3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4 372 clients</a:t>
            </a:r>
            <a:endParaRPr lang="en-US" sz="1200" dirty="0"/>
          </a:p>
        </p:txBody>
      </p:sp>
      <p:sp>
        <p:nvSpPr>
          <p:cNvPr id="34" name="Text 21"/>
          <p:cNvSpPr txBox="1"/>
          <p:nvPr/>
        </p:nvSpPr>
        <p:spPr>
          <a:xfrm>
            <a:off x="8515807" y="4181551"/>
            <a:ext cx="25959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</a:t>
            </a:r>
            <a:r>
              <a:rPr lang="en-US" sz="1200" b="1" dirty="0">
                <a:solidFill>
                  <a:srgbClr val="4AA3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 features</a:t>
            </a:r>
            <a:endParaRPr lang="en-US" sz="1200" dirty="0"/>
          </a:p>
        </p:txBody>
      </p:sp>
      <p:sp>
        <p:nvSpPr>
          <p:cNvPr id="35" name="Text 22"/>
          <p:cNvSpPr txBox="1"/>
          <p:nvPr/>
        </p:nvSpPr>
        <p:spPr>
          <a:xfrm>
            <a:off x="8477402" y="4667098"/>
            <a:ext cx="2610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Données intentionnellement imparfaites</a:t>
            </a:r>
            <a:endParaRPr lang="en-US" sz="11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2"/>
          <a:srcRect l="-1169" r="-1169"/>
          <a:stretch/>
        </p:blipFill>
        <p:spPr>
          <a:xfrm>
            <a:off x="1076249" y="5952744"/>
            <a:ext cx="190195" cy="247802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1485900" y="5962802"/>
            <a:ext cx="925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F1C4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Enjeu :</a:t>
            </a:r>
            <a:r>
              <a:rPr lang="en-US" sz="1500" kern="0" spc="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Transformer des données imparfaites en décisions marketing actionnables.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27AE60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3810305"/>
            <a:ext cx="5753405" cy="5753405"/>
          </a:xfrm>
          <a:prstGeom prst="ellipse">
            <a:avLst/>
          </a:prstGeom>
          <a:noFill/>
          <a:ln w="25400">
            <a:solidFill>
              <a:srgbClr val="E67E22">
                <a:alpha val="1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476756"/>
            <a:ext cx="761695" cy="4754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761695" y="1904695"/>
            <a:ext cx="6096305" cy="4190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39305" y="1904695"/>
            <a:ext cx="4229100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239305" y="1904695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F1C40F"/>
          </a:solidFill>
          <a:ln w="12700">
            <a:solidFill>
              <a:srgbClr val="F1C40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239305" y="2952598"/>
            <a:ext cx="4229100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239305" y="2952598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239305" y="4000500"/>
            <a:ext cx="4229100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39305" y="4000500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4AA3DF"/>
          </a:solidFill>
          <a:ln w="12700">
            <a:solidFill>
              <a:srgbClr val="4AA3D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39305" y="5048402"/>
            <a:ext cx="4229100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9305" y="5048402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9B59B6"/>
          </a:solidFill>
          <a:ln w="12700">
            <a:solidFill>
              <a:srgbClr val="9B59B6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1695" y="6191402"/>
            <a:ext cx="10687507" cy="495605"/>
          </a:xfrm>
          <a:prstGeom prst="roundRect">
            <a:avLst>
              <a:gd name="adj" fmla="val 56770"/>
            </a:avLst>
          </a:prstGeom>
          <a:solidFill>
            <a:srgbClr val="E67E22">
              <a:alpha val="10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761695" y="1904695"/>
            <a:ext cx="6096305" cy="5715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52805" y="2667305"/>
            <a:ext cx="5753405" cy="2895905"/>
          </a:xfrm>
          <a:prstGeom prst="roundRect">
            <a:avLst>
              <a:gd name="adj" fmla="val 1662"/>
            </a:avLst>
          </a:prstGeom>
          <a:solidFill>
            <a:srgbClr val="F8F9FA"/>
          </a:solidFill>
          <a:ln w="2540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52805" y="5619902"/>
            <a:ext cx="5753405" cy="381305"/>
          </a:xfrm>
          <a:prstGeom prst="roundRect">
            <a:avLst>
              <a:gd name="adj" fmla="val 47962"/>
            </a:avLst>
          </a:prstGeom>
          <a:solidFill>
            <a:srgbClr val="E74C3C">
              <a:alpha val="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52805" y="5619902"/>
            <a:ext cx="38405" cy="381305"/>
          </a:xfrm>
          <a:prstGeom prst="roundRect">
            <a:avLst>
              <a:gd name="adj" fmla="val 476188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333195" y="2857500"/>
            <a:ext cx="961949" cy="2095805"/>
          </a:xfrm>
          <a:prstGeom prst="rect">
            <a:avLst/>
          </a:prstGeom>
          <a:solidFill>
            <a:srgbClr val="E74C3C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2286000" y="2857500"/>
            <a:ext cx="9144" cy="2095805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397" b="-397"/>
          <a:stretch/>
        </p:blipFill>
        <p:spPr>
          <a:xfrm>
            <a:off x="1333195" y="4953305"/>
            <a:ext cx="4953305" cy="19202"/>
          </a:xfrm>
          <a:prstGeom prst="rect">
            <a:avLst/>
          </a:prstGeom>
        </p:spPr>
      </p:pic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393" r="-393"/>
          <a:stretch/>
        </p:blipFill>
        <p:spPr>
          <a:xfrm>
            <a:off x="2286000" y="2857500"/>
            <a:ext cx="19202" cy="209580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2000707" y="4667098"/>
            <a:ext cx="142646" cy="286207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714500" y="4858207"/>
            <a:ext cx="142646" cy="95098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476195" y="3333902"/>
            <a:ext cx="286207" cy="1619402"/>
          </a:xfrm>
          <a:prstGeom prst="rect">
            <a:avLst/>
          </a:prstGeom>
          <a:solidFill>
            <a:srgbClr val="4AA3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2952598" y="3810305"/>
            <a:ext cx="286207" cy="1143000"/>
          </a:xfrm>
          <a:prstGeom prst="rect">
            <a:avLst/>
          </a:prstGeom>
          <a:solidFill>
            <a:srgbClr val="4AA3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29000" y="4286707"/>
            <a:ext cx="286207" cy="666598"/>
          </a:xfrm>
          <a:prstGeom prst="rect">
            <a:avLst/>
          </a:prstGeom>
          <a:solidFill>
            <a:srgbClr val="4AA3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905402" y="4572000"/>
            <a:ext cx="286207" cy="381305"/>
          </a:xfrm>
          <a:prstGeom prst="rect">
            <a:avLst/>
          </a:prstGeom>
          <a:solidFill>
            <a:srgbClr val="4AA3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61695" y="476402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Exploration des données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61695" y="761695"/>
            <a:ext cx="7810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Qualité &amp; Distribution</a:t>
            </a:r>
            <a:endParaRPr lang="en-US" sz="3600" dirty="0"/>
          </a:p>
        </p:txBody>
      </p:sp>
      <p:sp>
        <p:nvSpPr>
          <p:cNvPr id="33" name="Text 26"/>
          <p:cNvSpPr txBox="1"/>
          <p:nvPr/>
        </p:nvSpPr>
        <p:spPr>
          <a:xfrm>
            <a:off x="1047902" y="2048256"/>
            <a:ext cx="5639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Distribution du MonetaryTotal (Aperçu)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1284732" y="2952598"/>
            <a:ext cx="10506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Négative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143000" y="5715000"/>
            <a:ext cx="5448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 clients avec dépense négative  flag </a:t>
            </a:r>
            <a:r>
              <a:rPr lang="en-US" sz="1100" b="1" dirty="0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HasNegativeMonetary</a:t>
            </a:r>
            <a:endParaRPr lang="en-US" sz="11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t="-556" b="-556"/>
          <a:stretch/>
        </p:blipFill>
        <p:spPr>
          <a:xfrm>
            <a:off x="3340303" y="5723230"/>
            <a:ext cx="123444" cy="142646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7429500" y="2219249"/>
            <a:ext cx="286207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905902" y="2095805"/>
            <a:ext cx="3448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30% d'âges manquants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7905902" y="2343607"/>
            <a:ext cx="3543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Nécessité d'imputation dans le pipeline.</a:t>
            </a:r>
            <a:endParaRPr lang="en-US" sz="11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7487107" y="3267151"/>
            <a:ext cx="171907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905902" y="3143707"/>
            <a:ext cx="35158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 clients avec dépense négative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7905902" y="3390595"/>
            <a:ext cx="34482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Création d'un flag spécifique.</a:t>
            </a:r>
            <a:endParaRPr lang="en-US" sz="11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7444130" y="4315054"/>
            <a:ext cx="256946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905902" y="4190695"/>
            <a:ext cx="3448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79 clients avec 1 seul achat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7905902" y="4438498"/>
            <a:ext cx="39483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Risque élevé de churn (comportement ponctuel).</a:t>
            </a:r>
            <a:endParaRPr lang="en-US" sz="11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457846" y="5362956"/>
            <a:ext cx="228600" cy="228600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7905902" y="5238598"/>
            <a:ext cx="3448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Valeurs spéciales (-1, 999)</a:t>
            </a:r>
            <a:endParaRPr 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7905902" y="5486400"/>
            <a:ext cx="39483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Détectées dans les données des tickets support.</a:t>
            </a:r>
            <a:endParaRPr lang="en-US" sz="11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76249" y="6314846"/>
            <a:ext cx="228600" cy="22860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1524305" y="6314846"/>
            <a:ext cx="102111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Données réalistes donc imparfaites : une rigoureuse préparation est nécessaire avant la modélisation.</a:t>
            </a:r>
            <a:endParaRPr lang="en-US" sz="13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rcRect l="12793" r="12793"/>
          <a:stretch/>
        </p:blipFill>
        <p:spPr>
          <a:xfrm>
            <a:off x="977494" y="2696566"/>
            <a:ext cx="5753405" cy="27624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27AE60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3810305"/>
            <a:ext cx="5753405" cy="5753405"/>
          </a:xfrm>
          <a:prstGeom prst="ellipse">
            <a:avLst/>
          </a:prstGeom>
          <a:noFill/>
          <a:ln w="25400">
            <a:solidFill>
              <a:srgbClr val="E67E22">
                <a:alpha val="1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762049"/>
            <a:ext cx="761695" cy="4754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761695" y="2095805"/>
            <a:ext cx="6096305" cy="39054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39305" y="2095805"/>
            <a:ext cx="4229100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239305" y="2095805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239305" y="3095244"/>
            <a:ext cx="4229100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239305" y="3095244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239305" y="4095598"/>
            <a:ext cx="4229100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39305" y="4095598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3498DB"/>
          </a:solidFill>
          <a:ln w="12700">
            <a:solidFill>
              <a:srgbClr val="3498DB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39305" y="5095951"/>
            <a:ext cx="4229100" cy="857707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9305" y="5095951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1695" y="6191402"/>
            <a:ext cx="10687507" cy="495605"/>
          </a:xfrm>
          <a:prstGeom prst="roundRect">
            <a:avLst>
              <a:gd name="adj" fmla="val 56770"/>
            </a:avLst>
          </a:prstGeom>
          <a:solidFill>
            <a:srgbClr val="27AE60">
              <a:alpha val="1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761695" y="2095805"/>
            <a:ext cx="6096305" cy="5715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52805" y="5477256"/>
            <a:ext cx="5753405" cy="381305"/>
          </a:xfrm>
          <a:prstGeom prst="roundRect">
            <a:avLst>
              <a:gd name="adj" fmla="val 47962"/>
            </a:avLst>
          </a:prstGeom>
          <a:solidFill>
            <a:srgbClr val="27AE60">
              <a:alpha val="5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952805" y="5477256"/>
            <a:ext cx="38405" cy="381305"/>
          </a:xfrm>
          <a:prstGeom prst="roundRect">
            <a:avLst>
              <a:gd name="adj" fmla="val 476188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6924" b="6924"/>
          <a:stretch/>
        </p:blipFill>
        <p:spPr>
          <a:xfrm>
            <a:off x="952805" y="2857500"/>
            <a:ext cx="5715000" cy="2476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Exploration des données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61695" y="666598"/>
            <a:ext cx="1162202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Matrice de Corrélation &amp; Multicolinéarité</a:t>
            </a:r>
            <a:endParaRPr lang="en-US" sz="3600" dirty="0"/>
          </a:p>
        </p:txBody>
      </p:sp>
      <p:sp>
        <p:nvSpPr>
          <p:cNvPr id="23" name="Text 17"/>
          <p:cNvSpPr txBox="1"/>
          <p:nvPr/>
        </p:nvSpPr>
        <p:spPr>
          <a:xfrm>
            <a:off x="1047902" y="2238451"/>
            <a:ext cx="56656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Zoom sur les fortes corrélations (|corr| &gt; 0.8)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143000" y="5572354"/>
            <a:ext cx="5448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Suppression de 7 features </a:t>
            </a:r>
            <a:r>
              <a:rPr lang="en-US" sz="11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|corrélation| &gt; 0,8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556" b="-556"/>
          <a:stretch/>
        </p:blipFill>
        <p:spPr>
          <a:xfrm>
            <a:off x="2895905" y="5580583"/>
            <a:ext cx="123444" cy="142646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57846" y="2409444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905902" y="2210105"/>
            <a:ext cx="3448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Forte multicolinéarité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7905902" y="2457907"/>
            <a:ext cx="34107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Concentrée sur les variables monétaires et de volume.</a:t>
            </a:r>
            <a:endParaRPr lang="en-US" sz="11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7429500" y="3409798"/>
            <a:ext cx="286207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905902" y="3258007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 ↔ UniqueInvoices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7905902" y="3514954"/>
            <a:ext cx="34482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Corrélation parfaite de 1,0.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7429500" y="4410151"/>
            <a:ext cx="286207" cy="2286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905902" y="4257446"/>
            <a:ext cx="3448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MonetaryMin ↔ MonetaryMax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7905902" y="4515307"/>
            <a:ext cx="34482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Corrélation inverse forte de -0,99.</a:t>
            </a:r>
            <a:endParaRPr lang="en-US" sz="11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57846" y="5410505"/>
            <a:ext cx="228600" cy="2286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905902" y="5257800"/>
            <a:ext cx="3448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Décision technique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7905902" y="5505602"/>
            <a:ext cx="34582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Suppression de 7 variables redondantes.</a:t>
            </a:r>
            <a:endParaRPr lang="en-US" sz="11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1104595" y="6314846"/>
            <a:ext cx="171907" cy="2286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524305" y="6314846"/>
            <a:ext cx="9639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Moins de redondance  modèles plus stables et plus explicables. </a:t>
            </a:r>
            <a:endParaRPr lang="en-US" sz="13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3"/>
          <a:srcRect l="-760" r="-760"/>
          <a:stretch/>
        </p:blipFill>
        <p:spPr>
          <a:xfrm>
            <a:off x="3268980" y="6326734"/>
            <a:ext cx="152705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27AE60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3810305"/>
            <a:ext cx="5753405" cy="5753405"/>
          </a:xfrm>
          <a:prstGeom prst="ellipse">
            <a:avLst/>
          </a:prstGeom>
          <a:noFill/>
          <a:ln w="25400">
            <a:solidFill>
              <a:srgbClr val="E67E22">
                <a:alpha val="1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380744"/>
            <a:ext cx="761695" cy="4754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761695" y="1714500"/>
            <a:ext cx="3295498" cy="39620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4438498" y="1714500"/>
            <a:ext cx="3295498" cy="39620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8115300" y="1714500"/>
            <a:ext cx="3295498" cy="396209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61695" y="5857646"/>
            <a:ext cx="10649102" cy="714146"/>
          </a:xfrm>
          <a:prstGeom prst="roundRect">
            <a:avLst>
              <a:gd name="adj" fmla="val 273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1047902" y="20007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4AA3D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4724705" y="20007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67E2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724705" y="3143707"/>
            <a:ext cx="2762402" cy="381305"/>
          </a:xfrm>
          <a:prstGeom prst="roundRect">
            <a:avLst>
              <a:gd name="adj" fmla="val 47962"/>
            </a:avLst>
          </a:prstGeom>
          <a:solidFill>
            <a:srgbClr val="E74C3C">
              <a:alpha val="5000"/>
            </a:srgbClr>
          </a:solidFill>
          <a:ln/>
        </p:spPr>
      </p:sp>
      <p:sp>
        <p:nvSpPr>
          <p:cNvPr id="14" name="Shape 8"/>
          <p:cNvSpPr/>
          <p:nvPr/>
        </p:nvSpPr>
        <p:spPr>
          <a:xfrm>
            <a:off x="4724705" y="3143707"/>
            <a:ext cx="38405" cy="381305"/>
          </a:xfrm>
          <a:prstGeom prst="roundRect">
            <a:avLst>
              <a:gd name="adj" fmla="val 476188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401507" y="20007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27AE6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t="-401" b="-401"/>
          <a:stretch/>
        </p:blipFill>
        <p:spPr>
          <a:xfrm>
            <a:off x="952805" y="6105449"/>
            <a:ext cx="10267798" cy="1920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524305" y="6019495"/>
            <a:ext cx="190195" cy="190195"/>
          </a:xfrm>
          <a:prstGeom prst="ellipse">
            <a:avLst/>
          </a:prstGeom>
          <a:solidFill>
            <a:srgbClr val="3449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3524098" y="6019495"/>
            <a:ext cx="190195" cy="190195"/>
          </a:xfrm>
          <a:prstGeom prst="ellipse">
            <a:avLst/>
          </a:prstGeom>
          <a:solidFill>
            <a:srgbClr val="4AA3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524805" y="6019495"/>
            <a:ext cx="190195" cy="190195"/>
          </a:xfrm>
          <a:prstGeom prst="ellipse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524598" y="6019495"/>
            <a:ext cx="190195" cy="190195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9525305" y="6019495"/>
            <a:ext cx="190195" cy="190195"/>
          </a:xfrm>
          <a:prstGeom prst="ellipse">
            <a:avLst/>
          </a:prstGeom>
          <a:solidFill>
            <a:srgbClr val="9B59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Préparation &amp; Nettoyage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666598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Préparation des données — Pipeline</a:t>
            </a:r>
            <a:endParaRPr lang="en-US" sz="36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00607" y="2152498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47902" y="2667305"/>
            <a:ext cx="28337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engineering</a:t>
            </a:r>
            <a:endParaRPr lang="en-US" sz="18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760" r="-760"/>
          <a:stretch/>
        </p:blipFill>
        <p:spPr>
          <a:xfrm>
            <a:off x="1047902" y="3238805"/>
            <a:ext cx="152705" cy="171907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333195" y="3209544"/>
            <a:ext cx="2514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 inscription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année/mois/jour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1064" r="-1064"/>
          <a:stretch/>
        </p:blipFill>
        <p:spPr>
          <a:xfrm>
            <a:off x="1047902" y="3857854"/>
            <a:ext cx="219456" cy="1719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333195" y="3829507"/>
            <a:ext cx="2514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Analyse IP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privée/publique + classe</a:t>
            </a:r>
            <a:endParaRPr lang="en-US" sz="12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rcRect l="-760" r="-760"/>
          <a:stretch/>
        </p:blipFill>
        <p:spPr>
          <a:xfrm>
            <a:off x="1047902" y="4476902"/>
            <a:ext cx="152705" cy="171907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333195" y="4448556"/>
            <a:ext cx="2514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Création de flag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HasNegativeMonetary</a:t>
            </a:r>
            <a:endParaRPr lang="en-US" sz="12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 t="-45" b="-45"/>
          <a:stretch/>
        </p:blipFill>
        <p:spPr>
          <a:xfrm>
            <a:off x="4862779" y="2152498"/>
            <a:ext cx="256946" cy="2286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724705" y="2667305"/>
            <a:ext cx="294436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Hygiène &amp; Anti-fuite</a:t>
            </a:r>
            <a:endParaRPr lang="en-US" sz="1800" dirty="0"/>
          </a:p>
        </p:txBody>
      </p:sp>
      <p:sp>
        <p:nvSpPr>
          <p:cNvPr id="34" name="Text 22"/>
          <p:cNvSpPr txBox="1"/>
          <p:nvPr/>
        </p:nvSpPr>
        <p:spPr>
          <a:xfrm>
            <a:off x="4839005" y="3219602"/>
            <a:ext cx="301569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Suppression de 9 features (leakage)</a:t>
            </a:r>
            <a:endParaRPr lang="en-US" sz="11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rcRect l="-2512" r="-2512"/>
          <a:stretch/>
        </p:blipFill>
        <p:spPr>
          <a:xfrm>
            <a:off x="4724705" y="3740810"/>
            <a:ext cx="105156" cy="133502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953305" y="3696005"/>
            <a:ext cx="25758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Recency</a:t>
            </a:r>
            <a:endParaRPr lang="en-US" sz="11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3"/>
          <a:srcRect l="-2512" r="-2512"/>
          <a:stretch/>
        </p:blipFill>
        <p:spPr>
          <a:xfrm>
            <a:off x="4724705" y="4027018"/>
            <a:ext cx="105156" cy="13350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4953305" y="3981298"/>
            <a:ext cx="25758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ChurnRiskCategory</a:t>
            </a:r>
            <a:endParaRPr lang="en-US" sz="11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3"/>
          <a:srcRect l="-2512" r="-2512"/>
          <a:stretch/>
        </p:blipFill>
        <p:spPr>
          <a:xfrm>
            <a:off x="4724705" y="4312310"/>
            <a:ext cx="105156" cy="133502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953305" y="4267505"/>
            <a:ext cx="25758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RFMSegment</a:t>
            </a:r>
            <a:endParaRPr lang="en-US" sz="11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3"/>
          <a:srcRect l="-2512" r="-2512"/>
          <a:stretch/>
        </p:blipFill>
        <p:spPr>
          <a:xfrm>
            <a:off x="4724705" y="4598518"/>
            <a:ext cx="105156" cy="133502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4953305" y="4552798"/>
            <a:ext cx="25530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CustomerType, FirstPurchaseDaysAgo, CustomerTenureDays</a:t>
            </a:r>
            <a:endParaRPr lang="en-US" sz="1100" dirty="0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4"/>
          <a:srcRect t="-45" b="-45"/>
          <a:stretch/>
        </p:blipFill>
        <p:spPr>
          <a:xfrm>
            <a:off x="8539582" y="2152498"/>
            <a:ext cx="256946" cy="228600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8401507" y="2667305"/>
            <a:ext cx="32278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&amp; Transformation</a:t>
            </a:r>
            <a:endParaRPr lang="en-US" sz="1800" dirty="0"/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401507" y="3247949"/>
            <a:ext cx="152705" cy="152705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8686800" y="3219602"/>
            <a:ext cx="25365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80/20 stratifié</a:t>
            </a:r>
            <a:endParaRPr lang="en-US" sz="1200" dirty="0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401507" y="3676802"/>
            <a:ext cx="152705" cy="152705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8686800" y="3648456"/>
            <a:ext cx="2514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Imputation APRÈS split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(Age = médiane)</a:t>
            </a:r>
            <a:endParaRPr lang="en-US" sz="1200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401507" y="4295851"/>
            <a:ext cx="152705" cy="152705"/>
          </a:xfrm>
          <a:prstGeom prst="rect">
            <a:avLst/>
          </a:prstGeom>
        </p:spPr>
      </p:pic>
      <p:sp>
        <p:nvSpPr>
          <p:cNvPr id="50" name="Text 30"/>
          <p:cNvSpPr txBox="1"/>
          <p:nvPr/>
        </p:nvSpPr>
        <p:spPr>
          <a:xfrm>
            <a:off x="8686800" y="4267505"/>
            <a:ext cx="25365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One-Hot: 12 → 103 features</a:t>
            </a:r>
            <a:endParaRPr lang="en-US" sz="1200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8"/>
          <a:srcRect t="-43" b="-43"/>
          <a:stretch/>
        </p:blipFill>
        <p:spPr>
          <a:xfrm>
            <a:off x="8401507" y="4724705"/>
            <a:ext cx="133502" cy="152705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8686800" y="4695444"/>
            <a:ext cx="25365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Normalisation (pour KNN)</a:t>
            </a:r>
            <a:endParaRPr lang="en-US" sz="1200" dirty="0"/>
          </a:p>
        </p:txBody>
      </p:sp>
      <p:sp>
        <p:nvSpPr>
          <p:cNvPr id="53" name="Text 32"/>
          <p:cNvSpPr txBox="1"/>
          <p:nvPr/>
        </p:nvSpPr>
        <p:spPr>
          <a:xfrm>
            <a:off x="1071677" y="6267298"/>
            <a:ext cx="1095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data</a:t>
            </a:r>
            <a:endParaRPr lang="en-US" sz="1000" dirty="0"/>
          </a:p>
        </p:txBody>
      </p:sp>
      <p:sp>
        <p:nvSpPr>
          <p:cNvPr id="54" name="Text 33"/>
          <p:cNvSpPr txBox="1"/>
          <p:nvPr/>
        </p:nvSpPr>
        <p:spPr>
          <a:xfrm>
            <a:off x="3071470" y="6267298"/>
            <a:ext cx="1095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A3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</a:t>
            </a:r>
            <a:endParaRPr lang="en-US" sz="1000" dirty="0"/>
          </a:p>
        </p:txBody>
      </p:sp>
      <p:sp>
        <p:nvSpPr>
          <p:cNvPr id="55" name="Text 34"/>
          <p:cNvSpPr txBox="1"/>
          <p:nvPr/>
        </p:nvSpPr>
        <p:spPr>
          <a:xfrm>
            <a:off x="5072177" y="6267298"/>
            <a:ext cx="1095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Imputation</a:t>
            </a:r>
            <a:endParaRPr lang="en-US" sz="1000" dirty="0"/>
          </a:p>
        </p:txBody>
      </p:sp>
      <p:sp>
        <p:nvSpPr>
          <p:cNvPr id="56" name="Text 35"/>
          <p:cNvSpPr txBox="1"/>
          <p:nvPr/>
        </p:nvSpPr>
        <p:spPr>
          <a:xfrm>
            <a:off x="7071970" y="6267298"/>
            <a:ext cx="1095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Encodage</a:t>
            </a:r>
            <a:endParaRPr lang="en-US" sz="1000" dirty="0"/>
          </a:p>
        </p:txBody>
      </p:sp>
      <p:sp>
        <p:nvSpPr>
          <p:cNvPr id="57" name="Text 36"/>
          <p:cNvSpPr txBox="1"/>
          <p:nvPr/>
        </p:nvSpPr>
        <p:spPr>
          <a:xfrm>
            <a:off x="9072677" y="6267298"/>
            <a:ext cx="1095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Modèles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380744"/>
            <a:ext cx="761695" cy="475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761695" y="1714500"/>
            <a:ext cx="6096305" cy="3429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239305" y="2143354"/>
            <a:ext cx="4190695" cy="571500"/>
          </a:xfrm>
          <a:prstGeom prst="roundRect">
            <a:avLst>
              <a:gd name="adj" fmla="val 42667"/>
            </a:avLst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27AE6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239305" y="2857500"/>
            <a:ext cx="4229100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239305" y="2857500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239305" y="3571646"/>
            <a:ext cx="4229100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239305" y="3571646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4AA3DF"/>
          </a:solidFill>
          <a:ln w="12700">
            <a:solidFill>
              <a:srgbClr val="4AA3D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39305" y="4286707"/>
            <a:ext cx="4229100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239305" y="4286707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95A5A6"/>
          </a:solidFill>
          <a:ln w="12700">
            <a:solidFill>
              <a:srgbClr val="95A5A6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1695" y="5333695"/>
            <a:ext cx="10687507" cy="1019556"/>
          </a:xfrm>
          <a:prstGeom prst="roundRect">
            <a:avLst>
              <a:gd name="adj" fmla="val 13411"/>
            </a:avLst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61695" y="6429146"/>
            <a:ext cx="10705795" cy="333756"/>
          </a:xfrm>
          <a:prstGeom prst="roundRect">
            <a:avLst>
              <a:gd name="adj" fmla="val 62622"/>
            </a:avLst>
          </a:prstGeom>
          <a:solidFill>
            <a:srgbClr val="E67E22">
              <a:alpha val="1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61695" y="6429146"/>
            <a:ext cx="38405" cy="333756"/>
          </a:xfrm>
          <a:prstGeom prst="roundRect">
            <a:avLst>
              <a:gd name="adj" fmla="val 544215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2805" y="4667098"/>
            <a:ext cx="5753405" cy="333756"/>
          </a:xfrm>
          <a:prstGeom prst="roundRect">
            <a:avLst>
              <a:gd name="adj" fmla="val 62622"/>
            </a:avLst>
          </a:prstGeom>
          <a:solidFill>
            <a:srgbClr val="27AE60">
              <a:alpha val="1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952805" y="4667098"/>
            <a:ext cx="38405" cy="333756"/>
          </a:xfrm>
          <a:prstGeom prst="roundRect">
            <a:avLst>
              <a:gd name="adj" fmla="val 544215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39" b="-39"/>
          <a:stretch/>
        </p:blipFill>
        <p:spPr>
          <a:xfrm>
            <a:off x="761695" y="5333695"/>
            <a:ext cx="10668305" cy="38130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61695" y="5715000"/>
            <a:ext cx="10668305" cy="333756"/>
          </a:xfrm>
          <a:prstGeom prst="rect">
            <a:avLst/>
          </a:prstGeom>
          <a:solidFill>
            <a:srgbClr val="27AE6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1456" r="1456"/>
          <a:stretch/>
        </p:blipFill>
        <p:spPr>
          <a:xfrm>
            <a:off x="952805" y="1904695"/>
            <a:ext cx="5715000" cy="26673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Modélisation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61695" y="666598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Comparaison des modèles</a:t>
            </a:r>
            <a:endParaRPr lang="en-US" sz="36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" y="4743907"/>
            <a:ext cx="569579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 : meilleur F1 (0.83) et meilleure AUC (0.947)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7239305" y="1714500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Classement (F1-Score)</a:t>
            </a:r>
            <a:endParaRPr lang="en-US" sz="16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7396582" y="2314346"/>
            <a:ext cx="256946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810805" y="2305202"/>
            <a:ext cx="2774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Gradient Boosting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401300" y="2305202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0.830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429500" y="3019349"/>
            <a:ext cx="27742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Arbre Décision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0401300" y="3019349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0.819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429500" y="3733495"/>
            <a:ext cx="27742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KNN Optimisé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0401300" y="37334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0.818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429500" y="4448556"/>
            <a:ext cx="27742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Random Forest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0401300" y="4448556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0.783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952805" y="5429707"/>
            <a:ext cx="1981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Modèle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3238805" y="5429707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5143500" y="5429707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 *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7048195" y="5429707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F1-Score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953805" y="5429707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ROC-AUC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952805" y="5790895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3295498" y="579089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89.3%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5201107" y="579089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78.7%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7105802" y="579089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0.830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9010498" y="579089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0.947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952805" y="6096305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Arbre Décision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3295498" y="609630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86.4%</a:t>
            </a:r>
            <a:endParaRPr lang="en-US" sz="1100" dirty="0"/>
          </a:p>
        </p:txBody>
      </p:sp>
      <p:sp>
        <p:nvSpPr>
          <p:cNvPr id="46" name="Text 39"/>
          <p:cNvSpPr txBox="1"/>
          <p:nvPr/>
        </p:nvSpPr>
        <p:spPr>
          <a:xfrm>
            <a:off x="5201107" y="609630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92.4% *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7105802" y="609630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0.819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9010498" y="6096305"/>
            <a:ext cx="1505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0.944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952805" y="6505956"/>
            <a:ext cx="105960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 Arbre de Décision = meilleur Recall (détecte 92.4% des partants), mais Gradient Boosting offre le meilleur compromis global (F1).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380744"/>
            <a:ext cx="761695" cy="475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714500"/>
            <a:ext cx="5143500" cy="4000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402" y="1714500"/>
            <a:ext cx="5296205" cy="1238098"/>
          </a:xfrm>
          <a:prstGeom prst="roundRect">
            <a:avLst>
              <a:gd name="adj" fmla="val 1363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191402" y="1714500"/>
            <a:ext cx="57607" cy="1238098"/>
          </a:xfrm>
          <a:prstGeom prst="roundRect">
            <a:avLst>
              <a:gd name="adj" fmla="val 293041"/>
            </a:avLst>
          </a:prstGeom>
          <a:solidFill>
            <a:srgbClr val="4AA3DF"/>
          </a:solidFill>
          <a:ln w="12700">
            <a:solidFill>
              <a:srgbClr val="4AA3D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191402" y="3095244"/>
            <a:ext cx="5296205" cy="1238098"/>
          </a:xfrm>
          <a:prstGeom prst="roundRect">
            <a:avLst>
              <a:gd name="adj" fmla="val 1363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191402" y="3095244"/>
            <a:ext cx="57607" cy="1238098"/>
          </a:xfrm>
          <a:prstGeom prst="roundRect">
            <a:avLst>
              <a:gd name="adj" fmla="val 293041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1402" y="4476902"/>
            <a:ext cx="5296205" cy="1238098"/>
          </a:xfrm>
          <a:prstGeom prst="roundRect">
            <a:avLst>
              <a:gd name="adj" fmla="val 1363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191402" y="4476902"/>
            <a:ext cx="57607" cy="1238098"/>
          </a:xfrm>
          <a:prstGeom prst="roundRect">
            <a:avLst>
              <a:gd name="adj" fmla="val 293041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1695" y="6001207"/>
            <a:ext cx="10668305" cy="476402"/>
          </a:xfrm>
          <a:prstGeom prst="roundRect">
            <a:avLst>
              <a:gd name="adj" fmla="val 61420"/>
            </a:avLst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27AE6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8" b="-8"/>
          <a:stretch/>
        </p:blipFill>
        <p:spPr>
          <a:xfrm>
            <a:off x="952805" y="2095805"/>
            <a:ext cx="4762195" cy="32388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 Modélisation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666598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KNN — Optimisation et gains</a:t>
            </a:r>
            <a:endParaRPr lang="en-US" sz="3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6381598" y="1933956"/>
            <a:ext cx="286207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58000" y="1904695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Choix techniques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858000" y="2238451"/>
            <a:ext cx="4362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SelectKBest (20 features)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k=15, Distance Manhattan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Normalisation des données 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6396228" y="3314700"/>
            <a:ext cx="256946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858000" y="3286354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Gains obtenus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858000" y="3619195"/>
            <a:ext cx="4362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F1-Score : </a:t>
            </a:r>
            <a:r>
              <a:rPr lang="en-US" sz="12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+28%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Recall : </a:t>
            </a:r>
            <a:r>
              <a:rPr lang="en-US" sz="12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+39.5%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Accuracy : </a:t>
            </a:r>
            <a:r>
              <a:rPr lang="en-US" sz="12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+12.5%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6396228" y="4695444"/>
            <a:ext cx="256946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858000" y="4667098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Lecture métier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6858000" y="5000854"/>
            <a:ext cx="4362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Meilleure détection des clients partants sans augmentation excessive de la complexité du modèle.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895198" y="6115507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Optimisation simple, impact majeur sur le rappel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476756"/>
            <a:ext cx="761695" cy="475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714500"/>
            <a:ext cx="6476695" cy="40955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19695" y="1714500"/>
            <a:ext cx="3866998" cy="761695"/>
          </a:xfrm>
          <a:prstGeom prst="roundRect">
            <a:avLst>
              <a:gd name="adj" fmla="val 3601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619695" y="1714500"/>
            <a:ext cx="57607" cy="761695"/>
          </a:xfrm>
          <a:prstGeom prst="roundRect">
            <a:avLst>
              <a:gd name="adj" fmla="val 476192"/>
            </a:avLst>
          </a:prstGeom>
          <a:solidFill>
            <a:srgbClr val="4AA3DF"/>
          </a:solidFill>
          <a:ln w="12700">
            <a:solidFill>
              <a:srgbClr val="4AA3D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9695" y="2667305"/>
            <a:ext cx="3866998" cy="761695"/>
          </a:xfrm>
          <a:prstGeom prst="roundRect">
            <a:avLst>
              <a:gd name="adj" fmla="val 3601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619695" y="2667305"/>
            <a:ext cx="57607" cy="761695"/>
          </a:xfrm>
          <a:prstGeom prst="roundRect">
            <a:avLst>
              <a:gd name="adj" fmla="val 476192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9695" y="3619195"/>
            <a:ext cx="3866998" cy="761695"/>
          </a:xfrm>
          <a:prstGeom prst="roundRect">
            <a:avLst>
              <a:gd name="adj" fmla="val 3601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19695" y="3619195"/>
            <a:ext cx="57607" cy="761695"/>
          </a:xfrm>
          <a:prstGeom prst="roundRect">
            <a:avLst>
              <a:gd name="adj" fmla="val 476192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19695" y="4572000"/>
            <a:ext cx="3829507" cy="1257300"/>
          </a:xfrm>
          <a:prstGeom prst="roundRect">
            <a:avLst>
              <a:gd name="adj" fmla="val 13223"/>
            </a:avLst>
          </a:prstGeom>
          <a:solidFill>
            <a:srgbClr val="2C3E50">
              <a:alpha val="3000"/>
            </a:srgbClr>
          </a:solidFill>
          <a:ln w="12700">
            <a:solidFill>
              <a:srgbClr val="2C3E50">
                <a:alpha val="1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1695" y="6096305"/>
            <a:ext cx="10668305" cy="476402"/>
          </a:xfrm>
          <a:prstGeom prst="roundRect">
            <a:avLst>
              <a:gd name="adj" fmla="val 61420"/>
            </a:avLst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2C3E5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7535" r="7535"/>
          <a:stretch/>
        </p:blipFill>
        <p:spPr>
          <a:xfrm>
            <a:off x="952805" y="1904695"/>
            <a:ext cx="6096305" cy="37152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 Modélisation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666598"/>
            <a:ext cx="11900916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Arbre de Décision — contrôle de complexité</a:t>
            </a:r>
            <a:endParaRPr lang="en-US" sz="36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7872070" y="1981505"/>
            <a:ext cx="256946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34756" y="1857146"/>
            <a:ext cx="3067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max_depth = 5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34756" y="2143354"/>
            <a:ext cx="3067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(au lieu de 18 sans contrainte)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7858354" y="2933395"/>
            <a:ext cx="286207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334756" y="2809951"/>
            <a:ext cx="310255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Écart Train/Test = 1,0%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334756" y="3095244"/>
            <a:ext cx="3067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(réduit de 16,1% à 1,0%)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86700" y="3886200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334756" y="3857854"/>
            <a:ext cx="3067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 = 92,4%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7810805" y="4714646"/>
            <a:ext cx="3543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Pourquoi c'est utile ?</a:t>
            </a:r>
            <a:endParaRPr lang="en-US" sz="13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10805" y="5105095"/>
            <a:ext cx="152705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096098" y="5095951"/>
            <a:ext cx="32580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≈ 9 clients partants sur 10 détectés</a:t>
            </a:r>
            <a:endParaRPr lang="en-US" sz="11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10805" y="5391302"/>
            <a:ext cx="152705" cy="152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096098" y="5381244"/>
            <a:ext cx="32580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449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Règles explicables pour le marketing</a:t>
            </a:r>
            <a:endParaRPr lang="en-US" sz="11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24128" y="6238951"/>
            <a:ext cx="142646" cy="19019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333195" y="6219749"/>
            <a:ext cx="10020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Contrainte de profondeur = meilleure généralisation + meilleure lisibilité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380744"/>
            <a:ext cx="761695" cy="475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714500"/>
            <a:ext cx="5143500" cy="4000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402" y="1714500"/>
            <a:ext cx="5296205" cy="1238098"/>
          </a:xfrm>
          <a:prstGeom prst="roundRect">
            <a:avLst>
              <a:gd name="adj" fmla="val 1363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191402" y="1714500"/>
            <a:ext cx="57607" cy="1238098"/>
          </a:xfrm>
          <a:prstGeom prst="roundRect">
            <a:avLst>
              <a:gd name="adj" fmla="val 293041"/>
            </a:avLst>
          </a:prstGeom>
          <a:solidFill>
            <a:srgbClr val="4AA3DF"/>
          </a:solidFill>
          <a:ln w="12700">
            <a:solidFill>
              <a:srgbClr val="4AA3D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191402" y="3095244"/>
            <a:ext cx="5296205" cy="1238098"/>
          </a:xfrm>
          <a:prstGeom prst="roundRect">
            <a:avLst>
              <a:gd name="adj" fmla="val 1363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191402" y="3095244"/>
            <a:ext cx="57607" cy="1238098"/>
          </a:xfrm>
          <a:prstGeom prst="roundRect">
            <a:avLst>
              <a:gd name="adj" fmla="val 293041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1402" y="4476902"/>
            <a:ext cx="5296205" cy="1238098"/>
          </a:xfrm>
          <a:prstGeom prst="roundRect">
            <a:avLst>
              <a:gd name="adj" fmla="val 1363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191402" y="4476902"/>
            <a:ext cx="57607" cy="1238098"/>
          </a:xfrm>
          <a:prstGeom prst="roundRect">
            <a:avLst>
              <a:gd name="adj" fmla="val 293041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1695" y="6096305"/>
            <a:ext cx="10668305" cy="476402"/>
          </a:xfrm>
          <a:prstGeom prst="roundRect">
            <a:avLst>
              <a:gd name="adj" fmla="val 61420"/>
            </a:avLst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E67E22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143000" y="2190902"/>
            <a:ext cx="4381805" cy="381305"/>
          </a:xfrm>
          <a:prstGeom prst="roundRect">
            <a:avLst>
              <a:gd name="adj" fmla="val 47962"/>
            </a:avLst>
          </a:prstGeom>
          <a:solidFill>
            <a:srgbClr val="ECF0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43000" y="2857500"/>
            <a:ext cx="4381805" cy="381305"/>
          </a:xfrm>
          <a:prstGeom prst="roundRect">
            <a:avLst>
              <a:gd name="adj" fmla="val 47962"/>
            </a:avLst>
          </a:prstGeom>
          <a:solidFill>
            <a:srgbClr val="ECF0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43000" y="3429000"/>
            <a:ext cx="4381805" cy="381305"/>
          </a:xfrm>
          <a:prstGeom prst="roundRect">
            <a:avLst>
              <a:gd name="adj" fmla="val 47962"/>
            </a:avLst>
          </a:prstGeom>
          <a:solidFill>
            <a:srgbClr val="ECF0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43000" y="4572000"/>
            <a:ext cx="4419295" cy="800100"/>
          </a:xfrm>
          <a:prstGeom prst="roundRect">
            <a:avLst>
              <a:gd name="adj" fmla="val 21769"/>
            </a:avLst>
          </a:prstGeom>
          <a:solidFill>
            <a:srgbClr val="F8F9FA"/>
          </a:solidFill>
          <a:ln w="25400">
            <a:solidFill>
              <a:srgbClr val="BDC3C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3000" y="2190902"/>
            <a:ext cx="2476195" cy="381305"/>
          </a:xfrm>
          <a:prstGeom prst="roundRect">
            <a:avLst>
              <a:gd name="adj" fmla="val 47962"/>
            </a:avLst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43000" y="2857500"/>
            <a:ext cx="1619402" cy="381305"/>
          </a:xfrm>
          <a:prstGeom prst="roundRect">
            <a:avLst>
              <a:gd name="adj" fmla="val 47962"/>
            </a:avLst>
          </a:prstGeom>
          <a:solidFill>
            <a:srgbClr val="BDC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43000" y="3429000"/>
            <a:ext cx="571500" cy="381305"/>
          </a:xfrm>
          <a:prstGeom prst="roundRect">
            <a:avLst>
              <a:gd name="adj" fmla="val 47962"/>
            </a:avLst>
          </a:prstGeom>
          <a:solidFill>
            <a:srgbClr val="BDC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 Modélisation — Meilleur Modèle Global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61695" y="666598"/>
            <a:ext cx="1078626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 — Le plus performant</a:t>
            </a:r>
            <a:endParaRPr lang="en-US" sz="3600" dirty="0"/>
          </a:p>
        </p:txBody>
      </p:sp>
      <p:sp>
        <p:nvSpPr>
          <p:cNvPr id="22" name="Text 18"/>
          <p:cNvSpPr txBox="1"/>
          <p:nvPr/>
        </p:nvSpPr>
        <p:spPr>
          <a:xfrm>
            <a:off x="1238098" y="2286000"/>
            <a:ext cx="23774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FavoriteSeason (56.5%)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238098" y="29525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Autres variables (réparti)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35240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...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95198" y="4858207"/>
            <a:ext cx="4877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 Votre capture feature_importance.png peut remplacer ce visuel ]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58407" y="1981505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58000" y="1904695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Hyperparamètres optimisés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2238451"/>
            <a:ext cx="43626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n_estimators = 200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learning_rate = 0.01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max_depth = 5 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8407" y="3362249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858000" y="3286354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Performances exceptionnelles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858000" y="3619195"/>
            <a:ext cx="4362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Validation (CV 5 folds) : F1 moyen = 0.827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Test : </a:t>
            </a:r>
            <a:r>
              <a:rPr lang="en-US" sz="12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= 0.830</a:t>
            </a: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</a:t>
            </a:r>
            <a:r>
              <a:rPr lang="en-US" sz="12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AUC = 0.947</a:t>
            </a: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Accuracy = 89.3% </a:t>
            </a:r>
            <a:endParaRPr lang="en-US" sz="1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58407" y="4743907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858000" y="4667098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Point de vigilance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6858000" y="5000854"/>
            <a:ext cx="4362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Dominance forte de </a:t>
            </a:r>
            <a:r>
              <a:rPr lang="en-US" sz="1200" b="1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FavoriteSeason</a:t>
            </a: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(56.5%) → Possible biais temporel à surveiller en production. 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95198" y="6210605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 : dominance de FavoriteSeason → possible biais temporel à surveiller</a:t>
            </a:r>
            <a:endParaRPr lang="en-US" sz="15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l="6343" r="6343"/>
          <a:stretch/>
        </p:blipFill>
        <p:spPr>
          <a:xfrm>
            <a:off x="907085" y="1869034"/>
            <a:ext cx="4858207" cy="3696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380744"/>
            <a:ext cx="761695" cy="475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5143500" cy="308610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1695" y="1714500"/>
            <a:ext cx="5143500" cy="38405"/>
          </a:xfrm>
          <a:prstGeom prst="roundRect">
            <a:avLst>
              <a:gd name="adj" fmla="val 176366"/>
            </a:avLst>
          </a:prstGeom>
          <a:solidFill>
            <a:srgbClr val="4AA3DF"/>
          </a:solidFill>
          <a:ln w="12700">
            <a:solidFill>
              <a:srgbClr val="4AA3D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86500" y="1714500"/>
            <a:ext cx="5143500" cy="308610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86500" y="1714500"/>
            <a:ext cx="5143500" cy="38405"/>
          </a:xfrm>
          <a:prstGeom prst="roundRect">
            <a:avLst>
              <a:gd name="adj" fmla="val 176366"/>
            </a:avLst>
          </a:prstGeom>
          <a:solidFill>
            <a:srgbClr val="9B59B6"/>
          </a:solidFill>
          <a:ln w="12700">
            <a:solidFill>
              <a:srgbClr val="9B59B6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4953305"/>
            <a:ext cx="3333902" cy="905256"/>
          </a:xfrm>
          <a:prstGeom prst="roundRect">
            <a:avLst>
              <a:gd name="adj" fmla="val 17012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4953305"/>
            <a:ext cx="38405" cy="905256"/>
          </a:xfrm>
          <a:prstGeom prst="roundRect">
            <a:avLst>
              <a:gd name="adj" fmla="val 401000"/>
            </a:avLst>
          </a:prstGeom>
          <a:solidFill>
            <a:srgbClr val="2C3E50"/>
          </a:solidFill>
          <a:ln w="12700">
            <a:solidFill>
              <a:srgbClr val="2C3E5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48556" y="4953305"/>
            <a:ext cx="3333902" cy="905256"/>
          </a:xfrm>
          <a:prstGeom prst="roundRect">
            <a:avLst>
              <a:gd name="adj" fmla="val 17012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8556" y="4953305"/>
            <a:ext cx="38405" cy="905256"/>
          </a:xfrm>
          <a:prstGeom prst="roundRect">
            <a:avLst>
              <a:gd name="adj" fmla="val 401000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4502" y="4953305"/>
            <a:ext cx="3333902" cy="905256"/>
          </a:xfrm>
          <a:prstGeom prst="roundRect">
            <a:avLst>
              <a:gd name="adj" fmla="val 17012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34502" y="4953305"/>
            <a:ext cx="38405" cy="905256"/>
          </a:xfrm>
          <a:prstGeom prst="roundRect">
            <a:avLst>
              <a:gd name="adj" fmla="val 401000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1695" y="6096305"/>
            <a:ext cx="10668305" cy="476402"/>
          </a:xfrm>
          <a:prstGeom prst="roundRect">
            <a:avLst>
              <a:gd name="adj" fmla="val 61420"/>
            </a:avLst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27AE60">
                <a:alpha val="3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805" y="2190902"/>
            <a:ext cx="4762195" cy="2381098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9863" r="9863"/>
          <a:stretch/>
        </p:blipFill>
        <p:spPr>
          <a:xfrm>
            <a:off x="6476695" y="2190902"/>
            <a:ext cx="4762195" cy="23810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 Segmentation clientèle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61695" y="666598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 clientèle — Méthode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895198" y="1857146"/>
            <a:ext cx="487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Choix du nombre de clusters (K-means)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20002" y="1857146"/>
            <a:ext cx="487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Projection ACP (2D)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1043330" y="5266944"/>
            <a:ext cx="200254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29207" y="5191049"/>
            <a:ext cx="25365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Réduction de dimension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429207" y="5419649"/>
            <a:ext cx="2536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ACP : 9 composantes</a:t>
            </a:r>
            <a:endParaRPr lang="en-US" sz="15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4700930" y="5266944"/>
            <a:ext cx="256946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15154" y="5191049"/>
            <a:ext cx="25365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conservée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5115154" y="5419649"/>
            <a:ext cx="29023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Variance expliquée : 84%</a:t>
            </a:r>
            <a:endParaRPr lang="en-US" sz="15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8372246" y="5266944"/>
            <a:ext cx="286207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801100" y="5191049"/>
            <a:ext cx="25365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Nettoyage (Z-score &gt; 4)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8801100" y="5419649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Outliers : 339 (9,7%)</a:t>
            </a:r>
            <a:endParaRPr lang="en-US" sz="15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6579" y="6238951"/>
            <a:ext cx="237744" cy="1901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333195" y="6234379"/>
            <a:ext cx="5563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Résultat : 4 clusters principaux + 1 segment Premium (outliers)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380744"/>
            <a:ext cx="761695" cy="475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6476695" cy="4000500"/>
          </a:xfrm>
          <a:prstGeom prst="roundRect">
            <a:avLst>
              <a:gd name="adj" fmla="val 13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19695" y="1714500"/>
            <a:ext cx="3866998" cy="6858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19695" y="1714500"/>
            <a:ext cx="57607" cy="685800"/>
          </a:xfrm>
          <a:prstGeom prst="roundRect">
            <a:avLst>
              <a:gd name="adj" fmla="val 352735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9695" y="2542946"/>
            <a:ext cx="3866998" cy="6858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19695" y="2542946"/>
            <a:ext cx="57607" cy="685800"/>
          </a:xfrm>
          <a:prstGeom prst="roundRect">
            <a:avLst>
              <a:gd name="adj" fmla="val 352735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19695" y="3372307"/>
            <a:ext cx="3866998" cy="6858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19695" y="3372307"/>
            <a:ext cx="57607" cy="685800"/>
          </a:xfrm>
          <a:prstGeom prst="roundRect">
            <a:avLst>
              <a:gd name="adj" fmla="val 352735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19695" y="4200754"/>
            <a:ext cx="3866998" cy="6858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19695" y="4200754"/>
            <a:ext cx="57607" cy="685800"/>
          </a:xfrm>
          <a:prstGeom prst="roundRect">
            <a:avLst>
              <a:gd name="adj" fmla="val 352735"/>
            </a:avLst>
          </a:prstGeom>
          <a:solidFill>
            <a:srgbClr val="3498DB"/>
          </a:solidFill>
          <a:ln w="12700">
            <a:solidFill>
              <a:srgbClr val="3498DB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19695" y="5029200"/>
            <a:ext cx="3866998" cy="6858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19695" y="5029200"/>
            <a:ext cx="57607" cy="685800"/>
          </a:xfrm>
          <a:prstGeom prst="roundRect">
            <a:avLst>
              <a:gd name="adj" fmla="val 352735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1695" y="6001207"/>
            <a:ext cx="10668305" cy="476402"/>
          </a:xfrm>
          <a:prstGeom prst="roundRect">
            <a:avLst>
              <a:gd name="adj" fmla="val 61420"/>
            </a:avLst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2C3E50">
                <a:alpha val="2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5339" r="5339"/>
          <a:stretch/>
        </p:blipFill>
        <p:spPr>
          <a:xfrm>
            <a:off x="952805" y="1904695"/>
            <a:ext cx="6096305" cy="3619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 Segmentation clientèle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1695" y="666598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Profils des segments — Actions</a:t>
            </a:r>
            <a:endParaRPr lang="en-US" sz="3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7839151" y="1962302"/>
            <a:ext cx="171907" cy="1901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91195" y="1809598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Risque Critique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191195" y="2048256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1 143 (36%) • </a:t>
            </a:r>
            <a:r>
              <a:rPr lang="en-US" sz="1000" b="1" dirty="0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urgent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53782" y="2790749"/>
            <a:ext cx="14264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91195" y="2638044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Peu Actifs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191195" y="2876702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1 413 (45%) • </a:t>
            </a:r>
            <a:r>
              <a:rPr lang="en-US" sz="1000" b="1" dirty="0">
                <a:solidFill>
                  <a:srgbClr val="F39C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Réactivation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7815377" y="3619195"/>
            <a:ext cx="219456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191195" y="3467405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Réguliers à Risque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191195" y="3705149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385 (12%) • </a:t>
            </a:r>
            <a:r>
              <a:rPr lang="en-US" sz="1000" b="1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Offres ciblées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7815377" y="4448556"/>
            <a:ext cx="219456" cy="1901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191195" y="4295851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Stables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8191195" y="4533595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217 (7%) • </a:t>
            </a:r>
            <a:r>
              <a:rPr lang="en-US" sz="1000" b="1" dirty="0">
                <a:solidFill>
                  <a:srgbClr val="3498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Upselling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7815377" y="5277002"/>
            <a:ext cx="219456" cy="19019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191195" y="5124298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Premium (outliers)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8191195" y="5362956"/>
            <a:ext cx="3162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339 (10%) • </a:t>
            </a:r>
            <a:r>
              <a:rPr lang="en-US" sz="10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Suivi VIP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72007" y="6143854"/>
            <a:ext cx="190195" cy="19019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285646" y="6139282"/>
            <a:ext cx="5048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segments distincts = 5 stratégies marketing activables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380744"/>
            <a:ext cx="761695" cy="475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761695" y="1714500"/>
            <a:ext cx="6115507" cy="4114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144207" y="1714500"/>
            <a:ext cx="4324198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144207" y="1714500"/>
            <a:ext cx="38405" cy="609905"/>
          </a:xfrm>
          <a:prstGeom prst="roundRect">
            <a:avLst>
              <a:gd name="adj" fmla="val 595235"/>
            </a:avLst>
          </a:prstGeom>
          <a:solidFill>
            <a:srgbClr val="4AA3DF"/>
          </a:solidFill>
          <a:ln w="12700">
            <a:solidFill>
              <a:srgbClr val="4AA3D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144207" y="2476195"/>
            <a:ext cx="4324198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144207" y="2476195"/>
            <a:ext cx="38405" cy="609905"/>
          </a:xfrm>
          <a:prstGeom prst="roundRect">
            <a:avLst>
              <a:gd name="adj" fmla="val 595235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44207" y="3238805"/>
            <a:ext cx="4324198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44207" y="3238805"/>
            <a:ext cx="38405" cy="609905"/>
          </a:xfrm>
          <a:prstGeom prst="roundRect">
            <a:avLst>
              <a:gd name="adj" fmla="val 595235"/>
            </a:avLst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44207" y="4000500"/>
            <a:ext cx="4324198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44207" y="4000500"/>
            <a:ext cx="38405" cy="609905"/>
          </a:xfrm>
          <a:prstGeom prst="roundRect">
            <a:avLst>
              <a:gd name="adj" fmla="val 595235"/>
            </a:avLst>
          </a:prstGeom>
          <a:solidFill>
            <a:srgbClr val="9B59B6"/>
          </a:solidFill>
          <a:ln w="12700">
            <a:solidFill>
              <a:srgbClr val="9B59B6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44207" y="4762195"/>
            <a:ext cx="4324198" cy="1047902"/>
          </a:xfrm>
          <a:prstGeom prst="roundRect">
            <a:avLst>
              <a:gd name="adj" fmla="val 1269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44207" y="4762195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1695" y="6096305"/>
            <a:ext cx="10668305" cy="476402"/>
          </a:xfrm>
          <a:prstGeom prst="roundRect">
            <a:avLst>
              <a:gd name="adj" fmla="val 61420"/>
            </a:avLst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2C3E5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37" b="-37"/>
          <a:stretch/>
        </p:blipFill>
        <p:spPr>
          <a:xfrm>
            <a:off x="761695" y="1714500"/>
            <a:ext cx="6096305" cy="38130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61695" y="2095805"/>
            <a:ext cx="6096305" cy="476402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52805" y="1857146"/>
            <a:ext cx="114300" cy="1143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43000" y="1857146"/>
            <a:ext cx="114300" cy="11430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333195" y="1857146"/>
            <a:ext cx="114300" cy="1143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52805" y="2762402"/>
            <a:ext cx="2686507" cy="1923898"/>
          </a:xfrm>
          <a:prstGeom prst="roundRect">
            <a:avLst>
              <a:gd name="adj" fmla="val 3765"/>
            </a:avLst>
          </a:prstGeom>
          <a:solidFill>
            <a:srgbClr val="F8F9FA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810305" y="2762402"/>
            <a:ext cx="2876702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810305" y="4000500"/>
            <a:ext cx="2876702" cy="685800"/>
          </a:xfrm>
          <a:prstGeom prst="roundRect">
            <a:avLst>
              <a:gd name="adj" fmla="val 29630"/>
            </a:avLst>
          </a:prstGeom>
          <a:solidFill>
            <a:srgbClr val="FEF9E7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52805" y="4858207"/>
            <a:ext cx="5734202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 Déploiement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666598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Déploiement Flask — Application &amp; API</a:t>
            </a:r>
            <a:endParaRPr lang="en-US" sz="3600" dirty="0"/>
          </a:p>
        </p:txBody>
      </p:sp>
      <p:sp>
        <p:nvSpPr>
          <p:cNvPr id="28" name="Text 23"/>
          <p:cNvSpPr txBox="1"/>
          <p:nvPr/>
        </p:nvSpPr>
        <p:spPr>
          <a:xfrm>
            <a:off x="952805" y="2210105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Retail Churn Predictor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1047902" y="2857500"/>
            <a:ext cx="2575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Données Client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047902" y="3086100"/>
            <a:ext cx="25758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Recency (jours)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1047902" y="3267151"/>
            <a:ext cx="2495398" cy="209398"/>
          </a:xfrm>
          <a:prstGeom prst="roundRect">
            <a:avLst>
              <a:gd name="adj" fmla="val 158793"/>
            </a:avLst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47902" y="3524098"/>
            <a:ext cx="25758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047902" y="3705149"/>
            <a:ext cx="2495398" cy="209398"/>
          </a:xfrm>
          <a:prstGeom prst="roundRect">
            <a:avLst>
              <a:gd name="adj" fmla="val 158793"/>
            </a:avLst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047902" y="3962095"/>
            <a:ext cx="257586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MonetaryTotal (£)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1047902" y="4143146"/>
            <a:ext cx="2495398" cy="209398"/>
          </a:xfrm>
          <a:prstGeom prst="roundRect">
            <a:avLst>
              <a:gd name="adj" fmla="val 158793"/>
            </a:avLst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851453" y="2857500"/>
            <a:ext cx="27742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Risque de Churn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3851453" y="3314700"/>
            <a:ext cx="27742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82%</a:t>
            </a:r>
            <a:endParaRPr lang="en-US" sz="18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7098" y="3105302"/>
            <a:ext cx="1143000" cy="11430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5581498" y="3066898"/>
            <a:ext cx="38405" cy="190195"/>
          </a:xfrm>
          <a:prstGeom prst="rect">
            <a:avLst/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3905402" y="4095598"/>
            <a:ext cx="27742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54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Conseil personnalisé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3905402" y="4267505"/>
            <a:ext cx="2743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critique à forte valeur historique. Contacter immédiatement avec offre de réactivation.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047902" y="4953305"/>
            <a:ext cx="5639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Historique récent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1047902" y="5287061"/>
            <a:ext cx="5524805" cy="91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047902" y="5134356"/>
            <a:ext cx="139446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ID: 12345 | Freq: 12 | 15%</a:t>
            </a:r>
            <a:endParaRPr lang="en-US" sz="800" dirty="0"/>
          </a:p>
        </p:txBody>
      </p:sp>
      <p:sp>
        <p:nvSpPr>
          <p:cNvPr id="45" name="Text 39"/>
          <p:cNvSpPr txBox="1"/>
          <p:nvPr/>
        </p:nvSpPr>
        <p:spPr>
          <a:xfrm>
            <a:off x="6279185" y="5134356"/>
            <a:ext cx="42153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</a:t>
            </a:r>
            <a:endParaRPr lang="en-US" sz="800" dirty="0"/>
          </a:p>
        </p:txBody>
      </p:sp>
      <p:sp>
        <p:nvSpPr>
          <p:cNvPr id="46" name="Text 40"/>
          <p:cNvSpPr txBox="1"/>
          <p:nvPr/>
        </p:nvSpPr>
        <p:spPr>
          <a:xfrm>
            <a:off x="1047902" y="5324551"/>
            <a:ext cx="132679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ID: 67890 | Freq: 2 | 89%</a:t>
            </a:r>
            <a:endParaRPr lang="en-US" sz="800" dirty="0"/>
          </a:p>
        </p:txBody>
      </p:sp>
      <p:sp>
        <p:nvSpPr>
          <p:cNvPr id="47" name="Text 41"/>
          <p:cNvSpPr txBox="1"/>
          <p:nvPr/>
        </p:nvSpPr>
        <p:spPr>
          <a:xfrm>
            <a:off x="6210605" y="5324551"/>
            <a:ext cx="55778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Critique</a:t>
            </a:r>
            <a:endParaRPr lang="en-US" sz="8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7338974" y="1923898"/>
            <a:ext cx="219456" cy="19019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7715707" y="1919326"/>
            <a:ext cx="2868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Formulaire de scoring interactif</a:t>
            </a:r>
            <a:endParaRPr lang="en-US" sz="13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53605" y="2686507"/>
            <a:ext cx="190195" cy="19019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7715707" y="2681021"/>
            <a:ext cx="21881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Jauge de risque colorée</a:t>
            </a:r>
            <a:endParaRPr lang="en-US" sz="13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377379" y="3448202"/>
            <a:ext cx="142646" cy="19019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7715707" y="3443630"/>
            <a:ext cx="32872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 automatique des scores RFM</a:t>
            </a:r>
            <a:endParaRPr lang="en-US" sz="1300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53605" y="4209898"/>
            <a:ext cx="190195" cy="190195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7715707" y="4205326"/>
            <a:ext cx="24030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Historique des prédictions</a:t>
            </a:r>
            <a:endParaRPr lang="en-US" sz="1300" dirty="0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329830" y="4972507"/>
            <a:ext cx="237744" cy="190195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7715707" y="4905756"/>
            <a:ext cx="3639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REST Intégrée</a:t>
            </a:r>
            <a:endParaRPr lang="en-US" sz="1300" dirty="0"/>
          </a:p>
        </p:txBody>
      </p:sp>
      <p:sp>
        <p:nvSpPr>
          <p:cNvPr id="58" name="Text 47"/>
          <p:cNvSpPr txBox="1"/>
          <p:nvPr/>
        </p:nvSpPr>
        <p:spPr>
          <a:xfrm>
            <a:off x="7715707" y="5152644"/>
            <a:ext cx="3639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/api/predict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7715707" y="5333695"/>
            <a:ext cx="3639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Retourne JSON avec probabilités</a:t>
            </a:r>
            <a:endParaRPr lang="en-US" sz="1000" dirty="0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81151" y="6238951"/>
            <a:ext cx="190195" cy="190195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1333195" y="6234379"/>
            <a:ext cx="47055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 modèle analytique à l'usage métier en temps réel</a:t>
            </a:r>
            <a:endParaRPr lang="en-US" sz="1300" dirty="0"/>
          </a:p>
        </p:txBody>
      </p:sp>
      <p:sp>
        <p:nvSpPr>
          <p:cNvPr id="62" name="Shape 50"/>
          <p:cNvSpPr/>
          <p:nvPr/>
        </p:nvSpPr>
        <p:spPr>
          <a:xfrm>
            <a:off x="761695" y="1714500"/>
            <a:ext cx="6096305" cy="4095598"/>
          </a:xfrm>
          <a:prstGeom prst="roundRect">
            <a:avLst>
              <a:gd name="adj" fmla="val 124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952805" y="3571646"/>
            <a:ext cx="5715000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25400">
            <a:solidFill>
              <a:srgbClr val="95A5A6"/>
            </a:solidFill>
            <a:prstDash val="solid"/>
          </a:ln>
        </p:spPr>
      </p:sp>
      <p:sp>
        <p:nvSpPr>
          <p:cNvPr id="64" name="Text 52"/>
          <p:cNvSpPr txBox="1"/>
          <p:nvPr/>
        </p:nvSpPr>
        <p:spPr>
          <a:xfrm>
            <a:off x="914400" y="3571646"/>
            <a:ext cx="579181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 Remplaçable par votre capture interface_flask.png ]</a:t>
            </a:r>
            <a:endParaRPr lang="en-US" sz="1300" dirty="0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3"/>
          <a:srcRect t="20594" b="20594"/>
          <a:stretch/>
        </p:blipFill>
        <p:spPr>
          <a:xfrm>
            <a:off x="761695" y="1714500"/>
            <a:ext cx="6086246" cy="37810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380744"/>
            <a:ext cx="761695" cy="475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761695" y="1714500"/>
            <a:ext cx="5143500" cy="417240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6286500" y="1714500"/>
            <a:ext cx="5143500" cy="417240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61695" y="6143854"/>
            <a:ext cx="10668305" cy="523951"/>
          </a:xfrm>
          <a:prstGeom prst="roundRect">
            <a:avLst>
              <a:gd name="adj" fmla="val 50769"/>
            </a:avLst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2C3E50">
                <a:alpha val="3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2952598" y="2000707"/>
            <a:ext cx="761695" cy="761695"/>
          </a:xfrm>
          <a:prstGeom prst="ellipse">
            <a:avLst/>
          </a:prstGeom>
          <a:solidFill>
            <a:srgbClr val="EAFD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619402" y="3810305"/>
            <a:ext cx="3467405" cy="847649"/>
          </a:xfrm>
          <a:prstGeom prst="roundRect">
            <a:avLst>
              <a:gd name="adj" fmla="val 19393"/>
            </a:avLst>
          </a:prstGeom>
          <a:solidFill>
            <a:srgbClr val="F8F9F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52805" y="4905756"/>
            <a:ext cx="4762195" cy="619049"/>
          </a:xfrm>
          <a:prstGeom prst="roundRect">
            <a:avLst>
              <a:gd name="adj" fmla="val 36359"/>
            </a:avLst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27AE60">
                <a:alpha val="3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8477402" y="2000707"/>
            <a:ext cx="761695" cy="761695"/>
          </a:xfrm>
          <a:prstGeom prst="ellipse">
            <a:avLst/>
          </a:prstGeom>
          <a:solidFill>
            <a:srgbClr val="FDED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144207" y="3810305"/>
            <a:ext cx="3467405" cy="847649"/>
          </a:xfrm>
          <a:prstGeom prst="roundRect">
            <a:avLst>
              <a:gd name="adj" fmla="val 19393"/>
            </a:avLst>
          </a:prstGeom>
          <a:solidFill>
            <a:srgbClr val="F8F9FA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76695" y="4905756"/>
            <a:ext cx="4762195" cy="619049"/>
          </a:xfrm>
          <a:prstGeom prst="roundRect">
            <a:avLst>
              <a:gd name="adj" fmla="val 36359"/>
            </a:avLst>
          </a:prstGeom>
          <a:solidFill>
            <a:srgbClr val="E74C3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E74C3C">
                <a:alpha val="3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 Démo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666598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Démo des prédictions — 2 cas clients</a:t>
            </a:r>
            <a:endParaRPr lang="en-US" sz="3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7" r="-27"/>
          <a:stretch/>
        </p:blipFill>
        <p:spPr>
          <a:xfrm>
            <a:off x="3119018" y="2210105"/>
            <a:ext cx="428854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5198" y="2857500"/>
            <a:ext cx="48774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Fidèle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2091233" y="3286354"/>
            <a:ext cx="37389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Freq : 50 achats |  Montant : 10 000 € 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53489" y="3295498"/>
            <a:ext cx="152705" cy="15270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91840" y="3295498"/>
            <a:ext cx="152705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772107" y="3924605"/>
            <a:ext cx="31245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Risque de départ estimé</a:t>
            </a:r>
            <a:endParaRPr lang="en-US" sz="12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15 %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43000" y="5095951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524305" y="5110582"/>
            <a:ext cx="28904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Programme fidélité + cross-sell</a:t>
            </a:r>
            <a:endParaRPr lang="en-US" sz="13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27" r="-27"/>
          <a:stretch/>
        </p:blipFill>
        <p:spPr>
          <a:xfrm>
            <a:off x="8643823" y="2210105"/>
            <a:ext cx="428854" cy="3429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420002" y="2857500"/>
            <a:ext cx="48774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Critique</a:t>
            </a:r>
            <a:endParaRPr lang="en-US" sz="2100" dirty="0"/>
          </a:p>
        </p:txBody>
      </p:sp>
      <p:sp>
        <p:nvSpPr>
          <p:cNvPr id="26" name="Text 16"/>
          <p:cNvSpPr txBox="1"/>
          <p:nvPr/>
        </p:nvSpPr>
        <p:spPr>
          <a:xfrm>
            <a:off x="7846466" y="3286354"/>
            <a:ext cx="3507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Freq : 1 achat |  Montant : 50 € </a:t>
            </a:r>
            <a:endParaRPr lang="en-US" sz="12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08722" y="3295498"/>
            <a:ext cx="152705" cy="152705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82482" y="3295498"/>
            <a:ext cx="152705" cy="15270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295998" y="3924605"/>
            <a:ext cx="31245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Risque de départ estimé</a:t>
            </a:r>
            <a:endParaRPr lang="en-US" sz="12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89 %</a:t>
            </a:r>
            <a:endParaRPr lang="en-US" sz="12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67805" y="5095951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7048195" y="5110582"/>
            <a:ext cx="35652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Offre de réactivation + support proactif</a:t>
            </a:r>
            <a:endParaRPr lang="en-US" sz="13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1037844" y="6305702"/>
            <a:ext cx="171907" cy="190195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1380744" y="6301130"/>
            <a:ext cx="6229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 score de churn déclenche directement la recommandation marketing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0" r="-60"/>
          <a:stretch/>
        </p:blipFill>
        <p:spPr>
          <a:xfrm>
            <a:off x="761695" y="1476756"/>
            <a:ext cx="761695" cy="475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761695" y="1809598"/>
            <a:ext cx="5143500" cy="398129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6286500" y="1809598"/>
            <a:ext cx="5143500" cy="398129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61695" y="5952744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2C3E5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2C3E50">
                <a:alpha val="3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1047902" y="2572207"/>
            <a:ext cx="533095" cy="533095"/>
          </a:xfrm>
          <a:prstGeom prst="ellipse">
            <a:avLst/>
          </a:prstGeom>
          <a:solidFill>
            <a:srgbClr val="EAFD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047902" y="3381451"/>
            <a:ext cx="533095" cy="533095"/>
          </a:xfrm>
          <a:prstGeom prst="ellipse">
            <a:avLst/>
          </a:prstGeom>
          <a:solidFill>
            <a:srgbClr val="EAFD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047902" y="4190695"/>
            <a:ext cx="533095" cy="533095"/>
          </a:xfrm>
          <a:prstGeom prst="ellipse">
            <a:avLst/>
          </a:prstGeom>
          <a:solidFill>
            <a:srgbClr val="EAFD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61695" y="381305"/>
            <a:ext cx="5829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 Conclusion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666598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 &amp; Perspectives</a:t>
            </a:r>
            <a:endParaRPr lang="en-US" sz="3600" dirty="0"/>
          </a:p>
        </p:txBody>
      </p:sp>
      <p:sp>
        <p:nvSpPr>
          <p:cNvPr id="13" name="Text 8"/>
          <p:cNvSpPr txBox="1"/>
          <p:nvPr/>
        </p:nvSpPr>
        <p:spPr>
          <a:xfrm>
            <a:off x="1047902" y="2048256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Bilan du projet</a:t>
            </a:r>
            <a:endParaRPr lang="en-US" sz="1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1214323" y="2723998"/>
            <a:ext cx="200254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62049" y="2619756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Modèle performant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762049" y="2885846"/>
            <a:ext cx="39547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 : </a:t>
            </a:r>
            <a:r>
              <a:rPr lang="en-US" sz="1200" b="1" dirty="0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= 0,83 | AUC = 0,95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1214323" y="3534156"/>
            <a:ext cx="200254" cy="228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762049" y="3429000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 actionnable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762049" y="3696005"/>
            <a:ext cx="3924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clusters aux profils bien distincts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1214323" y="4343400"/>
            <a:ext cx="200254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762049" y="4238244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web fonctionnelle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762049" y="4505249"/>
            <a:ext cx="3924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Flask avec API REST prête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6572707" y="2048256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Limites &amp; Perspectives</a:t>
            </a:r>
            <a:endParaRPr lang="en-US" sz="18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38544" y="2638044"/>
            <a:ext cx="209398" cy="20939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000646" y="2619756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Limites identifiées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7181698" y="2952598"/>
            <a:ext cx="4124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Données historiques (2009–2011)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7181698" y="3209544"/>
            <a:ext cx="4124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Poids dominant de </a:t>
            </a:r>
            <a:r>
              <a:rPr lang="en-US" sz="1200" b="1" dirty="0">
                <a:solidFill>
                  <a:srgbClr val="E67E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FavoriteSeason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000646" y="2995574"/>
            <a:ext cx="105156" cy="114300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000646" y="3252521"/>
            <a:ext cx="105156" cy="114300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38544" y="3829507"/>
            <a:ext cx="209398" cy="209398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7000646" y="3810305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2" name="Text 20"/>
          <p:cNvSpPr txBox="1"/>
          <p:nvPr/>
        </p:nvSpPr>
        <p:spPr>
          <a:xfrm>
            <a:off x="7190842" y="4143146"/>
            <a:ext cx="411571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Explicabilité locale avec </a:t>
            </a:r>
            <a:r>
              <a:rPr lang="en-US" sz="1200" b="1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7190842" y="4419295"/>
            <a:ext cx="411571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sur un flux de données récentes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7190842" y="4695444"/>
            <a:ext cx="411571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Mise en production Cloud &amp; monitoring</a:t>
            </a:r>
            <a:endParaRPr lang="en-US" sz="12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7000646" y="4169664"/>
            <a:ext cx="114300" cy="133502"/>
          </a:xfrm>
          <a:prstGeom prst="rect">
            <a:avLst/>
          </a:prstGeom>
        </p:spPr>
      </p:pic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7000646" y="4445813"/>
            <a:ext cx="114300" cy="133502"/>
          </a:xfrm>
          <a:prstGeom prst="rect">
            <a:avLst/>
          </a:prstGeom>
        </p:spPr>
      </p:pic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7000646" y="4721962"/>
            <a:ext cx="114300" cy="133502"/>
          </a:xfrm>
          <a:prstGeom prst="rect">
            <a:avLst/>
          </a:prstGeom>
        </p:spPr>
      </p:pic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23798" y="6124651"/>
            <a:ext cx="228600" cy="228600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1571854" y="6120079"/>
            <a:ext cx="703905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Transformer les signaux de churn en actions marketing mesurables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F20C77C-0404-BAE7-BEEB-5FA2C45E9D55}"/>
              </a:ext>
            </a:extLst>
          </p:cNvPr>
          <p:cNvSpPr txBox="1"/>
          <p:nvPr/>
        </p:nvSpPr>
        <p:spPr>
          <a:xfrm>
            <a:off x="2743200" y="2486527"/>
            <a:ext cx="6705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/>
              <a:t>Merci </a:t>
            </a:r>
          </a:p>
          <a:p>
            <a:pPr algn="ctr"/>
            <a:r>
              <a:rPr lang="fr-FR" sz="4400" dirty="0"/>
              <a:t>pour votre attention </a:t>
            </a:r>
            <a:endParaRPr lang="fr-TN" sz="4400" dirty="0"/>
          </a:p>
        </p:txBody>
      </p:sp>
    </p:spTree>
    <p:extLst>
      <p:ext uri="{BB962C8B-B14F-4D97-AF65-F5344CB8AC3E}">
        <p14:creationId xmlns:p14="http://schemas.microsoft.com/office/powerpoint/2010/main" val="81823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1145</Words>
  <Application>Microsoft Office PowerPoint</Application>
  <PresentationFormat>Grand écran</PresentationFormat>
  <Paragraphs>256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Courier New</vt:lpstr>
      <vt:lpstr>Roboto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Mariem Benabdallah</cp:lastModifiedBy>
  <cp:revision>2</cp:revision>
  <dcterms:created xsi:type="dcterms:W3CDTF">2026-04-15T14:16:55Z</dcterms:created>
  <dcterms:modified xsi:type="dcterms:W3CDTF">2026-04-15T17:06:55Z</dcterms:modified>
</cp:coreProperties>
</file>